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Fredoka" panose="020B0604020202020204" charset="0"/>
      <p:regular r:id="rId14"/>
    </p:embeddedFont>
    <p:embeddedFont>
      <p:font typeface="Open Sans" panose="020B0604020202020204" charset="0"/>
      <p:regular r:id="rId15"/>
    </p:embeddedFont>
    <p:embeddedFont>
      <p:font typeface="Quicksand" panose="020B0604020202020204" charset="0"/>
      <p:regular r:id="rId16"/>
    </p:embeddedFont>
    <p:embeddedFont>
      <p:font typeface="Quicksand 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36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18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9" Type="http://schemas.openxmlformats.org/officeDocument/2006/relationships/image" Target="../media/image2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737373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805478"/>
            <a:chOff x="0" y="0"/>
            <a:chExt cx="4274726" cy="2121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2142"/>
            </a:xfrm>
            <a:custGeom>
              <a:avLst/>
              <a:gdLst/>
              <a:ahLst/>
              <a:cxnLst/>
              <a:rect l="l" t="t" r="r" b="b"/>
              <a:pathLst>
                <a:path w="4274726" h="212142">
                  <a:moveTo>
                    <a:pt x="0" y="0"/>
                  </a:moveTo>
                  <a:lnTo>
                    <a:pt x="4274726" y="0"/>
                  </a:lnTo>
                  <a:lnTo>
                    <a:pt x="4274726" y="212142"/>
                  </a:lnTo>
                  <a:lnTo>
                    <a:pt x="0" y="21214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502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2923693"/>
            <a:ext cx="16821326" cy="3209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04"/>
              </a:lnSpc>
            </a:pPr>
            <a:r>
              <a:rPr lang="en-US" sz="12304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SEGURIDAD EN DESARROLLO WEB</a:t>
            </a:r>
          </a:p>
        </p:txBody>
      </p:sp>
      <p:sp>
        <p:nvSpPr>
          <p:cNvPr id="6" name="Freeform 6"/>
          <p:cNvSpPr/>
          <p:nvPr/>
        </p:nvSpPr>
        <p:spPr>
          <a:xfrm rot="-2700000">
            <a:off x="10908772" y="3978227"/>
            <a:ext cx="10707063" cy="8458580"/>
          </a:xfrm>
          <a:custGeom>
            <a:avLst/>
            <a:gdLst/>
            <a:ahLst/>
            <a:cxnLst/>
            <a:rect l="l" t="t" r="r" b="b"/>
            <a:pathLst>
              <a:path w="10707063" h="8458580">
                <a:moveTo>
                  <a:pt x="0" y="0"/>
                </a:moveTo>
                <a:lnTo>
                  <a:pt x="10707063" y="0"/>
                </a:lnTo>
                <a:lnTo>
                  <a:pt x="10707063" y="8458580"/>
                </a:lnTo>
                <a:lnTo>
                  <a:pt x="0" y="84585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292864" y="1137116"/>
            <a:ext cx="5524500" cy="502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9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Generation Chile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005773" y="7521470"/>
            <a:ext cx="11604724" cy="2203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2114" lvl="1" indent="-341057" algn="ctr">
              <a:lnSpc>
                <a:spcPts val="4423"/>
              </a:lnSpc>
              <a:buFont typeface="Arial"/>
              <a:buChar char="•"/>
            </a:pPr>
            <a:r>
              <a:rPr lang="en-US" sz="3159" b="1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Conceptos clave:</a:t>
            </a:r>
          </a:p>
          <a:p>
            <a:pPr marL="1364227" lvl="2" indent="-454742" algn="ctr">
              <a:lnSpc>
                <a:spcPts val="4423"/>
              </a:lnSpc>
              <a:buFont typeface="Arial"/>
              <a:buChar char="⚬"/>
            </a:pPr>
            <a:r>
              <a:rPr lang="en-US" sz="3159" b="1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Vulnerabilidad:</a:t>
            </a:r>
            <a:r>
              <a:rPr lang="en-US" sz="3159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 Debilidad en el código o configuración.</a:t>
            </a:r>
          </a:p>
          <a:p>
            <a:pPr marL="1364227" lvl="2" indent="-454742" algn="ctr">
              <a:lnSpc>
                <a:spcPts val="4423"/>
              </a:lnSpc>
              <a:buFont typeface="Arial"/>
              <a:buChar char="⚬"/>
            </a:pPr>
            <a:r>
              <a:rPr lang="en-US" sz="3159" b="1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Intrusión:</a:t>
            </a:r>
            <a:r>
              <a:rPr lang="en-US" sz="3159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 Acceso no autorizado explotando una falla.</a:t>
            </a:r>
          </a:p>
          <a:p>
            <a:pPr algn="ctr">
              <a:lnSpc>
                <a:spcPts val="4423"/>
              </a:lnSpc>
              <a:spcBef>
                <a:spcPct val="0"/>
              </a:spcBef>
            </a:pPr>
            <a:r>
              <a:rPr lang="en-US" sz="3159" b="1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Riesgos:</a:t>
            </a:r>
            <a:r>
              <a:rPr lang="en-US" sz="3159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 Robo de datos, daño reputacional y multas legales.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737373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402790"/>
            <a:ext cx="17762855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AUTENTICACIÓN VS. AUTORIZACIÓN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514350" y="2621480"/>
            <a:ext cx="17248505" cy="6762750"/>
            <a:chOff x="0" y="0"/>
            <a:chExt cx="4542816" cy="178113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42816" cy="1781136"/>
            </a:xfrm>
            <a:custGeom>
              <a:avLst/>
              <a:gdLst/>
              <a:ahLst/>
              <a:cxnLst/>
              <a:rect l="l" t="t" r="r" b="b"/>
              <a:pathLst>
                <a:path w="4542816" h="1781136">
                  <a:moveTo>
                    <a:pt x="0" y="0"/>
                  </a:moveTo>
                  <a:lnTo>
                    <a:pt x="4542816" y="0"/>
                  </a:lnTo>
                  <a:lnTo>
                    <a:pt x="4542816" y="1781136"/>
                  </a:lnTo>
                  <a:lnTo>
                    <a:pt x="0" y="178113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542816" cy="18192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76922" y="4329172"/>
            <a:ext cx="16482378" cy="3261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4518" lvl="1" indent="-357259" algn="ctr">
              <a:lnSpc>
                <a:spcPts val="4964"/>
              </a:lnSpc>
              <a:buFont typeface="Arial"/>
              <a:buChar char="•"/>
            </a:pPr>
            <a:r>
              <a:rPr lang="en-US" sz="330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Autenticación (¿Quién eres?): Verificación de identidad antes del acceso.</a:t>
            </a:r>
          </a:p>
          <a:p>
            <a:pPr marL="714518" lvl="1" indent="-357259" algn="ctr">
              <a:lnSpc>
                <a:spcPts val="4964"/>
              </a:lnSpc>
              <a:buFont typeface="Arial"/>
              <a:buChar char="•"/>
            </a:pPr>
            <a:r>
              <a:rPr lang="en-US" sz="330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Autorización (¿Qué puedes hacer?): Verificación de permisos y roles tras entrar al sistema.</a:t>
            </a:r>
          </a:p>
          <a:p>
            <a:pPr algn="ctr">
              <a:lnSpc>
                <a:spcPts val="5584"/>
              </a:lnSpc>
              <a:spcBef>
                <a:spcPct val="0"/>
              </a:spcBef>
            </a:pPr>
            <a:r>
              <a:rPr lang="en-US" sz="3723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Diferencia técnica: La autenticación ocurre primero (login); la autorización determina el acceso a recursos específicos (roles admin/user).</a:t>
            </a:r>
          </a:p>
        </p:txBody>
      </p:sp>
    </p:spTree>
  </p:cSld>
  <p:clrMapOvr>
    <a:masterClrMapping/>
  </p:clrMapOvr>
  <p:transition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737373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817294"/>
            <a:ext cx="15478424" cy="5862869"/>
            <a:chOff x="0" y="0"/>
            <a:chExt cx="4076622" cy="15441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76622" cy="1544130"/>
            </a:xfrm>
            <a:custGeom>
              <a:avLst/>
              <a:gdLst/>
              <a:ahLst/>
              <a:cxnLst/>
              <a:rect l="l" t="t" r="r" b="b"/>
              <a:pathLst>
                <a:path w="4076622" h="1544130">
                  <a:moveTo>
                    <a:pt x="0" y="0"/>
                  </a:moveTo>
                  <a:lnTo>
                    <a:pt x="4076622" y="0"/>
                  </a:lnTo>
                  <a:lnTo>
                    <a:pt x="4076622" y="1544130"/>
                  </a:lnTo>
                  <a:lnTo>
                    <a:pt x="0" y="154413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076622" cy="15822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900323" y="526318"/>
            <a:ext cx="10786387" cy="5436547"/>
            <a:chOff x="0" y="0"/>
            <a:chExt cx="2840859" cy="14318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40859" cy="1431848"/>
            </a:xfrm>
            <a:custGeom>
              <a:avLst/>
              <a:gdLst/>
              <a:ahLst/>
              <a:cxnLst/>
              <a:rect l="l" t="t" r="r" b="b"/>
              <a:pathLst>
                <a:path w="2840859" h="1431848">
                  <a:moveTo>
                    <a:pt x="0" y="0"/>
                  </a:moveTo>
                  <a:lnTo>
                    <a:pt x="2840859" y="0"/>
                  </a:lnTo>
                  <a:lnTo>
                    <a:pt x="2840859" y="1431848"/>
                  </a:lnTo>
                  <a:lnTo>
                    <a:pt x="0" y="1431848"/>
                  </a:lnTo>
                  <a:close/>
                </a:path>
              </a:pathLst>
            </a:custGeom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840859" cy="1469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516938" y="1268945"/>
            <a:ext cx="13579381" cy="4170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Estándares de seguridad: Mínimo 12 caracteres, uso de símbolos, números y evitar datos personales.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Hashing: Transformación irreversible de la contraseña; el sistema nunca guarda el texto plano.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Implementación en Java: Uso de BCryptPasswordEncoder para codificar y comparar credenciales.</a:t>
            </a:r>
          </a:p>
          <a:p>
            <a:pPr marL="604519" lvl="1" indent="-302260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Prohibición: Nunca utilizar algoritmos obsoletos como MD5 o SHA1.</a:t>
            </a:r>
          </a:p>
          <a:p>
            <a:pPr marL="0" lvl="0" indent="0" algn="l">
              <a:lnSpc>
                <a:spcPts val="4199"/>
              </a:lnSpc>
              <a:spcBef>
                <a:spcPct val="0"/>
              </a:spcBef>
            </a:pPr>
            <a:endParaRPr lang="en-US" sz="2799">
              <a:solidFill>
                <a:srgbClr val="00000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84167" y="8105921"/>
            <a:ext cx="15422957" cy="2180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758"/>
              </a:lnSpc>
            </a:pPr>
            <a:r>
              <a:rPr lang="en-US" sz="6256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GESTIÓN SEGURA DE CONTRASEÑAS</a:t>
            </a:r>
          </a:p>
          <a:p>
            <a:pPr algn="r">
              <a:lnSpc>
                <a:spcPts val="8758"/>
              </a:lnSpc>
            </a:pPr>
            <a:endParaRPr lang="en-US" sz="6256">
              <a:solidFill>
                <a:srgbClr val="FFFFFF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13139487" y="4751661"/>
            <a:ext cx="5148513" cy="2851129"/>
            <a:chOff x="0" y="0"/>
            <a:chExt cx="6864683" cy="380150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685083" cy="3426440"/>
            </a:xfrm>
            <a:custGeom>
              <a:avLst/>
              <a:gdLst/>
              <a:ahLst/>
              <a:cxnLst/>
              <a:rect l="l" t="t" r="r" b="b"/>
              <a:pathLst>
                <a:path w="2685083" h="3426440">
                  <a:moveTo>
                    <a:pt x="0" y="0"/>
                  </a:moveTo>
                  <a:lnTo>
                    <a:pt x="2685083" y="0"/>
                  </a:lnTo>
                  <a:lnTo>
                    <a:pt x="2685083" y="3426440"/>
                  </a:lnTo>
                  <a:lnTo>
                    <a:pt x="0" y="3426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 flipH="1">
              <a:off x="4179601" y="375065"/>
              <a:ext cx="2685083" cy="3426440"/>
            </a:xfrm>
            <a:custGeom>
              <a:avLst/>
              <a:gdLst/>
              <a:ahLst/>
              <a:cxnLst/>
              <a:rect l="l" t="t" r="r" b="b"/>
              <a:pathLst>
                <a:path w="2685083" h="3426440">
                  <a:moveTo>
                    <a:pt x="2685082" y="0"/>
                  </a:moveTo>
                  <a:lnTo>
                    <a:pt x="0" y="0"/>
                  </a:lnTo>
                  <a:lnTo>
                    <a:pt x="0" y="3426440"/>
                  </a:lnTo>
                  <a:lnTo>
                    <a:pt x="2685082" y="3426440"/>
                  </a:lnTo>
                  <a:lnTo>
                    <a:pt x="2685082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1314063" y="3230421"/>
              <a:ext cx="2168723" cy="351169"/>
            </a:xfrm>
            <a:custGeom>
              <a:avLst/>
              <a:gdLst/>
              <a:ahLst/>
              <a:cxnLst/>
              <a:rect l="l" t="t" r="r" b="b"/>
              <a:pathLst>
                <a:path w="2168723" h="351169">
                  <a:moveTo>
                    <a:pt x="0" y="0"/>
                  </a:moveTo>
                  <a:lnTo>
                    <a:pt x="2168722" y="0"/>
                  </a:lnTo>
                  <a:lnTo>
                    <a:pt x="2168722" y="351169"/>
                  </a:lnTo>
                  <a:lnTo>
                    <a:pt x="0" y="351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t="-688085"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2111152" y="3426440"/>
              <a:ext cx="2117587" cy="351169"/>
            </a:xfrm>
            <a:custGeom>
              <a:avLst/>
              <a:gdLst/>
              <a:ahLst/>
              <a:cxnLst/>
              <a:rect l="l" t="t" r="r" b="b"/>
              <a:pathLst>
                <a:path w="2117587" h="351169">
                  <a:moveTo>
                    <a:pt x="0" y="0"/>
                  </a:moveTo>
                  <a:lnTo>
                    <a:pt x="2117587" y="0"/>
                  </a:lnTo>
                  <a:lnTo>
                    <a:pt x="2117587" y="351169"/>
                  </a:lnTo>
                  <a:lnTo>
                    <a:pt x="0" y="351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t="-688085" r="-2414"/>
              </a:stretch>
            </a:blipFill>
          </p:spPr>
        </p:sp>
      </p:grpSp>
    </p:spTree>
  </p:cSld>
  <p:clrMapOvr>
    <a:masterClrMapping/>
  </p:clrMapOvr>
  <p:transition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737373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9090" y="98380"/>
            <a:ext cx="16300210" cy="3352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VULNERABILIDADES CRÍTICAS EN EL CÓDIGOTICO </a:t>
            </a:r>
          </a:p>
          <a:p>
            <a:pPr algn="ctr">
              <a:lnSpc>
                <a:spcPts val="8959"/>
              </a:lnSpc>
            </a:pPr>
            <a:endParaRPr lang="en-US" sz="6399">
              <a:solidFill>
                <a:srgbClr val="FFFFFF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2048236" y="2478413"/>
            <a:ext cx="13006539" cy="6779887"/>
            <a:chOff x="0" y="0"/>
            <a:chExt cx="3425590" cy="178564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425591" cy="1785649"/>
            </a:xfrm>
            <a:custGeom>
              <a:avLst/>
              <a:gdLst/>
              <a:ahLst/>
              <a:cxnLst/>
              <a:rect l="l" t="t" r="r" b="b"/>
              <a:pathLst>
                <a:path w="3425591" h="1785649">
                  <a:moveTo>
                    <a:pt x="0" y="0"/>
                  </a:moveTo>
                  <a:lnTo>
                    <a:pt x="3425591" y="0"/>
                  </a:lnTo>
                  <a:lnTo>
                    <a:pt x="3425591" y="1785649"/>
                  </a:lnTo>
                  <a:lnTo>
                    <a:pt x="0" y="178564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425590" cy="18237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4697942" y="2262813"/>
            <a:ext cx="2324175" cy="3381736"/>
          </a:xfrm>
          <a:custGeom>
            <a:avLst/>
            <a:gdLst/>
            <a:ahLst/>
            <a:cxnLst/>
            <a:rect l="l" t="t" r="r" b="b"/>
            <a:pathLst>
              <a:path w="2324175" h="3381736">
                <a:moveTo>
                  <a:pt x="0" y="0"/>
                </a:moveTo>
                <a:lnTo>
                  <a:pt x="2324175" y="0"/>
                </a:lnTo>
                <a:lnTo>
                  <a:pt x="2324175" y="3381736"/>
                </a:lnTo>
                <a:lnTo>
                  <a:pt x="0" y="3381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405068" y="3639704"/>
            <a:ext cx="12292875" cy="438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6754" lvl="1" indent="-303377" algn="l">
              <a:lnSpc>
                <a:spcPts val="4215"/>
              </a:lnSpc>
              <a:buFont typeface="Arial"/>
              <a:buChar char="•"/>
            </a:pPr>
            <a:r>
              <a:rPr lang="en-US" sz="281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SQL Injection: Inserción de código malicioso en formularios para manipular la base de datos.</a:t>
            </a:r>
          </a:p>
          <a:p>
            <a:pPr marL="606754" lvl="1" indent="-303377" algn="l">
              <a:lnSpc>
                <a:spcPts val="4215"/>
              </a:lnSpc>
              <a:buFont typeface="Arial"/>
              <a:buChar char="•"/>
            </a:pPr>
            <a:r>
              <a:rPr lang="en-US" sz="281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XSS (Cross-Site Scripting): Inyección de JavaScript que se ejecuta en el navegador de otros usuarios.</a:t>
            </a:r>
          </a:p>
          <a:p>
            <a:pPr marL="606754" lvl="1" indent="-303377" algn="l">
              <a:lnSpc>
                <a:spcPts val="4215"/>
              </a:lnSpc>
              <a:buFont typeface="Arial"/>
              <a:buChar char="•"/>
            </a:pPr>
            <a:r>
              <a:rPr lang="en-US" sz="281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Exposición de datos: Guardar tokens o información sensible sin cifrar o en texto plano.</a:t>
            </a:r>
          </a:p>
          <a:p>
            <a:pPr marL="0" lvl="0" indent="0" algn="l">
              <a:lnSpc>
                <a:spcPts val="4815"/>
              </a:lnSpc>
              <a:spcBef>
                <a:spcPct val="0"/>
              </a:spcBef>
            </a:pPr>
            <a:r>
              <a:rPr lang="en-US" sz="321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Causa raíz: Confiar en los datos del usuario sin validar ni sanitizar.</a:t>
            </a:r>
          </a:p>
        </p:txBody>
      </p:sp>
    </p:spTree>
  </p:cSld>
  <p:clrMapOvr>
    <a:masterClrMapping/>
  </p:clrMapOvr>
  <p:transition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737373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2699" y="1861814"/>
            <a:ext cx="17875301" cy="7718948"/>
            <a:chOff x="0" y="0"/>
            <a:chExt cx="4707898" cy="20329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07898" cy="2032974"/>
            </a:xfrm>
            <a:custGeom>
              <a:avLst/>
              <a:gdLst/>
              <a:ahLst/>
              <a:cxnLst/>
              <a:rect l="l" t="t" r="r" b="b"/>
              <a:pathLst>
                <a:path w="4707898" h="2032974">
                  <a:moveTo>
                    <a:pt x="0" y="0"/>
                  </a:moveTo>
                  <a:lnTo>
                    <a:pt x="4707898" y="0"/>
                  </a:lnTo>
                  <a:lnTo>
                    <a:pt x="4707898" y="2032974"/>
                  </a:lnTo>
                  <a:lnTo>
                    <a:pt x="0" y="203297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707898" cy="20710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14809" y="3437144"/>
            <a:ext cx="4487419" cy="819078"/>
            <a:chOff x="0" y="0"/>
            <a:chExt cx="1181872" cy="21572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81872" cy="215724"/>
            </a:xfrm>
            <a:custGeom>
              <a:avLst/>
              <a:gdLst/>
              <a:ahLst/>
              <a:cxnLst/>
              <a:rect l="l" t="t" r="r" b="b"/>
              <a:pathLst>
                <a:path w="1181872" h="215724">
                  <a:moveTo>
                    <a:pt x="0" y="0"/>
                  </a:moveTo>
                  <a:lnTo>
                    <a:pt x="1181872" y="0"/>
                  </a:lnTo>
                  <a:lnTo>
                    <a:pt x="1181872" y="215724"/>
                  </a:lnTo>
                  <a:lnTo>
                    <a:pt x="0" y="215724"/>
                  </a:lnTo>
                  <a:close/>
                </a:path>
              </a:pathLst>
            </a:custGeom>
            <a:solidFill>
              <a:srgbClr val="4C5270"/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181872" cy="2538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13957" y="4057784"/>
            <a:ext cx="4488271" cy="5407843"/>
            <a:chOff x="0" y="0"/>
            <a:chExt cx="1182096" cy="14242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82096" cy="1424288"/>
            </a:xfrm>
            <a:custGeom>
              <a:avLst/>
              <a:gdLst/>
              <a:ahLst/>
              <a:cxnLst/>
              <a:rect l="l" t="t" r="r" b="b"/>
              <a:pathLst>
                <a:path w="1182096" h="1424288">
                  <a:moveTo>
                    <a:pt x="0" y="0"/>
                  </a:moveTo>
                  <a:lnTo>
                    <a:pt x="1182096" y="0"/>
                  </a:lnTo>
                  <a:lnTo>
                    <a:pt x="1182096" y="1424288"/>
                  </a:lnTo>
                  <a:lnTo>
                    <a:pt x="0" y="1424288"/>
                  </a:lnTo>
                  <a:close/>
                </a:path>
              </a:pathLst>
            </a:custGeom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182096" cy="1462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216379" y="3403488"/>
            <a:ext cx="4439056" cy="952500"/>
            <a:chOff x="0" y="0"/>
            <a:chExt cx="1169134" cy="25086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69134" cy="250864"/>
            </a:xfrm>
            <a:custGeom>
              <a:avLst/>
              <a:gdLst/>
              <a:ahLst/>
              <a:cxnLst/>
              <a:rect l="l" t="t" r="r" b="b"/>
              <a:pathLst>
                <a:path w="1169134" h="250864">
                  <a:moveTo>
                    <a:pt x="0" y="0"/>
                  </a:moveTo>
                  <a:lnTo>
                    <a:pt x="1169134" y="0"/>
                  </a:lnTo>
                  <a:lnTo>
                    <a:pt x="1169134" y="250864"/>
                  </a:lnTo>
                  <a:lnTo>
                    <a:pt x="0" y="250864"/>
                  </a:lnTo>
                  <a:close/>
                </a:path>
              </a:pathLst>
            </a:custGeom>
            <a:solidFill>
              <a:srgbClr val="4C5270"/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169134" cy="2889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216379" y="4057784"/>
            <a:ext cx="4439056" cy="5407843"/>
            <a:chOff x="0" y="0"/>
            <a:chExt cx="1169134" cy="142428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69134" cy="1424288"/>
            </a:xfrm>
            <a:custGeom>
              <a:avLst/>
              <a:gdLst/>
              <a:ahLst/>
              <a:cxnLst/>
              <a:rect l="l" t="t" r="r" b="b"/>
              <a:pathLst>
                <a:path w="1169134" h="1424288">
                  <a:moveTo>
                    <a:pt x="0" y="0"/>
                  </a:moveTo>
                  <a:lnTo>
                    <a:pt x="1169134" y="0"/>
                  </a:lnTo>
                  <a:lnTo>
                    <a:pt x="1169134" y="1424288"/>
                  </a:lnTo>
                  <a:lnTo>
                    <a:pt x="0" y="1424288"/>
                  </a:lnTo>
                  <a:close/>
                </a:path>
              </a:pathLst>
            </a:custGeom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169134" cy="1462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867823" y="3350597"/>
            <a:ext cx="3882694" cy="952500"/>
            <a:chOff x="0" y="0"/>
            <a:chExt cx="1022602" cy="25086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22602" cy="250864"/>
            </a:xfrm>
            <a:custGeom>
              <a:avLst/>
              <a:gdLst/>
              <a:ahLst/>
              <a:cxnLst/>
              <a:rect l="l" t="t" r="r" b="b"/>
              <a:pathLst>
                <a:path w="1022602" h="250864">
                  <a:moveTo>
                    <a:pt x="0" y="0"/>
                  </a:moveTo>
                  <a:lnTo>
                    <a:pt x="1022602" y="0"/>
                  </a:lnTo>
                  <a:lnTo>
                    <a:pt x="1022602" y="250864"/>
                  </a:lnTo>
                  <a:lnTo>
                    <a:pt x="0" y="250864"/>
                  </a:lnTo>
                  <a:close/>
                </a:path>
              </a:pathLst>
            </a:custGeom>
            <a:solidFill>
              <a:srgbClr val="4C5270"/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022602" cy="2889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831148" y="4202768"/>
            <a:ext cx="3919369" cy="5308077"/>
            <a:chOff x="0" y="0"/>
            <a:chExt cx="1032262" cy="139801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32262" cy="1398012"/>
            </a:xfrm>
            <a:custGeom>
              <a:avLst/>
              <a:gdLst/>
              <a:ahLst/>
              <a:cxnLst/>
              <a:rect l="l" t="t" r="r" b="b"/>
              <a:pathLst>
                <a:path w="1032262" h="1398012">
                  <a:moveTo>
                    <a:pt x="0" y="0"/>
                  </a:moveTo>
                  <a:lnTo>
                    <a:pt x="1032262" y="0"/>
                  </a:lnTo>
                  <a:lnTo>
                    <a:pt x="1032262" y="1398012"/>
                  </a:lnTo>
                  <a:lnTo>
                    <a:pt x="0" y="1398012"/>
                  </a:lnTo>
                  <a:close/>
                </a:path>
              </a:pathLst>
            </a:custGeom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032262" cy="14361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>
            <a:off x="1672644" y="4649378"/>
            <a:ext cx="1697182" cy="1905000"/>
          </a:xfrm>
          <a:custGeom>
            <a:avLst/>
            <a:gdLst/>
            <a:ahLst/>
            <a:cxnLst/>
            <a:rect l="l" t="t" r="r" b="b"/>
            <a:pathLst>
              <a:path w="1697182" h="1905000">
                <a:moveTo>
                  <a:pt x="0" y="0"/>
                </a:moveTo>
                <a:lnTo>
                  <a:pt x="1697182" y="0"/>
                </a:lnTo>
                <a:lnTo>
                  <a:pt x="1697182" y="1905000"/>
                </a:lnTo>
                <a:lnTo>
                  <a:pt x="0" y="1905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6562723" y="4355988"/>
            <a:ext cx="1601225" cy="1575023"/>
          </a:xfrm>
          <a:custGeom>
            <a:avLst/>
            <a:gdLst/>
            <a:ahLst/>
            <a:cxnLst/>
            <a:rect l="l" t="t" r="r" b="b"/>
            <a:pathLst>
              <a:path w="1601225" h="1575023">
                <a:moveTo>
                  <a:pt x="0" y="0"/>
                </a:moveTo>
                <a:lnTo>
                  <a:pt x="1601225" y="0"/>
                </a:lnTo>
                <a:lnTo>
                  <a:pt x="1601225" y="1575024"/>
                </a:lnTo>
                <a:lnTo>
                  <a:pt x="0" y="15750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5" name="Freeform 25"/>
          <p:cNvSpPr/>
          <p:nvPr/>
        </p:nvSpPr>
        <p:spPr>
          <a:xfrm>
            <a:off x="11217535" y="4649378"/>
            <a:ext cx="1288722" cy="1711102"/>
          </a:xfrm>
          <a:custGeom>
            <a:avLst/>
            <a:gdLst/>
            <a:ahLst/>
            <a:cxnLst/>
            <a:rect l="l" t="t" r="r" b="b"/>
            <a:pathLst>
              <a:path w="1288722" h="1711102">
                <a:moveTo>
                  <a:pt x="0" y="0"/>
                </a:moveTo>
                <a:lnTo>
                  <a:pt x="1288722" y="0"/>
                </a:lnTo>
                <a:lnTo>
                  <a:pt x="1288722" y="1711102"/>
                </a:lnTo>
                <a:lnTo>
                  <a:pt x="0" y="17111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26" name="Group 26"/>
          <p:cNvGrpSpPr/>
          <p:nvPr/>
        </p:nvGrpSpPr>
        <p:grpSpPr>
          <a:xfrm>
            <a:off x="14242605" y="3374207"/>
            <a:ext cx="3890794" cy="952500"/>
            <a:chOff x="0" y="0"/>
            <a:chExt cx="1024736" cy="25086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24736" cy="250864"/>
            </a:xfrm>
            <a:custGeom>
              <a:avLst/>
              <a:gdLst/>
              <a:ahLst/>
              <a:cxnLst/>
              <a:rect l="l" t="t" r="r" b="b"/>
              <a:pathLst>
                <a:path w="1024736" h="250864">
                  <a:moveTo>
                    <a:pt x="0" y="0"/>
                  </a:moveTo>
                  <a:lnTo>
                    <a:pt x="1024736" y="0"/>
                  </a:lnTo>
                  <a:lnTo>
                    <a:pt x="1024736" y="250864"/>
                  </a:lnTo>
                  <a:lnTo>
                    <a:pt x="0" y="250864"/>
                  </a:lnTo>
                  <a:close/>
                </a:path>
              </a:pathLst>
            </a:custGeom>
            <a:solidFill>
              <a:srgbClr val="4C5270"/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1024736" cy="2889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4547405" y="6909661"/>
            <a:ext cx="3641572" cy="2074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Protección contra ataques de fuerza bruta y saturación (DDoS)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4214030" y="4157551"/>
            <a:ext cx="3919369" cy="5308077"/>
            <a:chOff x="0" y="0"/>
            <a:chExt cx="1032262" cy="139801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032262" cy="1398012"/>
            </a:xfrm>
            <a:custGeom>
              <a:avLst/>
              <a:gdLst/>
              <a:ahLst/>
              <a:cxnLst/>
              <a:rect l="l" t="t" r="r" b="b"/>
              <a:pathLst>
                <a:path w="1032262" h="1398012">
                  <a:moveTo>
                    <a:pt x="0" y="0"/>
                  </a:moveTo>
                  <a:lnTo>
                    <a:pt x="1032262" y="0"/>
                  </a:lnTo>
                  <a:lnTo>
                    <a:pt x="1032262" y="1398012"/>
                  </a:lnTo>
                  <a:lnTo>
                    <a:pt x="0" y="1398012"/>
                  </a:lnTo>
                  <a:close/>
                </a:path>
              </a:pathLst>
            </a:custGeom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1032262" cy="14361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33" name="Picture 3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752354" y="4235423"/>
            <a:ext cx="2871295" cy="2539012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-739201" y="526867"/>
            <a:ext cx="18645858" cy="2218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SEGURIDAD DE RED Y TRANSMISIÓN</a:t>
            </a:r>
          </a:p>
          <a:p>
            <a:pPr algn="ctr">
              <a:lnSpc>
                <a:spcPts val="8959"/>
              </a:lnSpc>
            </a:pPr>
            <a:endParaRPr lang="en-US" sz="6399">
              <a:solidFill>
                <a:srgbClr val="FFFFFF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240278" y="3608408"/>
            <a:ext cx="4739825" cy="389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1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HTTPS (HTTP + TLS/SSL)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165916" y="3591766"/>
            <a:ext cx="4559032" cy="528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1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Riesgo (MitM)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146054" y="3598883"/>
            <a:ext cx="3431683" cy="603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1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Firewall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296351" y="7474062"/>
            <a:ext cx="4133970" cy="2717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66"/>
              </a:lnSpc>
            </a:pPr>
            <a:r>
              <a:rPr lang="en-US" sz="2444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Sin HTTPS, los datos pueden ser interceptados en texto plano (ataques Man-in-the-Middle).</a:t>
            </a:r>
          </a:p>
          <a:p>
            <a:pPr algn="ctr">
              <a:lnSpc>
                <a:spcPts val="3666"/>
              </a:lnSpc>
            </a:pPr>
            <a:r>
              <a:rPr lang="en-US" sz="2444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</a:p>
          <a:p>
            <a:pPr algn="ctr">
              <a:lnSpc>
                <a:spcPts val="3666"/>
              </a:lnSpc>
              <a:spcBef>
                <a:spcPct val="0"/>
              </a:spcBef>
            </a:pPr>
            <a:endParaRPr lang="en-US" sz="2444">
              <a:solidFill>
                <a:srgbClr val="00000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630160" y="7512477"/>
            <a:ext cx="4349942" cy="1746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7"/>
              </a:lnSpc>
              <a:spcBef>
                <a:spcPct val="0"/>
              </a:spcBef>
            </a:pPr>
            <a:r>
              <a:rPr lang="en-US" sz="2505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Cifra la comunicación para asegurar confidencialidad, integridad y autenticidad.</a:t>
            </a:r>
          </a:p>
          <a:p>
            <a:pPr algn="ctr">
              <a:lnSpc>
                <a:spcPts val="3507"/>
              </a:lnSpc>
              <a:spcBef>
                <a:spcPct val="0"/>
              </a:spcBef>
            </a:pPr>
            <a:endParaRPr lang="en-US" sz="2505">
              <a:solidFill>
                <a:srgbClr val="00000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14368631" y="3549221"/>
            <a:ext cx="3431683" cy="603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1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Rate Limiting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146054" y="7520844"/>
            <a:ext cx="3281705" cy="1345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66"/>
              </a:lnSpc>
              <a:spcBef>
                <a:spcPct val="0"/>
              </a:spcBef>
            </a:pPr>
            <a:r>
              <a:rPr lang="en-US" sz="2444" u="none" strike="noStrike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Filtro de tráfico basado en reglas (IP, puertos o protocolos).</a:t>
            </a:r>
          </a:p>
        </p:txBody>
      </p:sp>
    </p:spTree>
  </p:cSld>
  <p:clrMapOvr>
    <a:masterClrMapping/>
  </p:clrMapOvr>
  <p:transition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737373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06237" y="620247"/>
            <a:ext cx="16553063" cy="7045273"/>
            <a:chOff x="0" y="0"/>
            <a:chExt cx="4359654" cy="18555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59654" cy="1855545"/>
            </a:xfrm>
            <a:custGeom>
              <a:avLst/>
              <a:gdLst/>
              <a:ahLst/>
              <a:cxnLst/>
              <a:rect l="l" t="t" r="r" b="b"/>
              <a:pathLst>
                <a:path w="4359654" h="1855545">
                  <a:moveTo>
                    <a:pt x="0" y="0"/>
                  </a:moveTo>
                  <a:lnTo>
                    <a:pt x="4359654" y="0"/>
                  </a:lnTo>
                  <a:lnTo>
                    <a:pt x="4359654" y="1855545"/>
                  </a:lnTo>
                  <a:lnTo>
                    <a:pt x="0" y="185554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359654" cy="1893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30467" y="1222292"/>
            <a:ext cx="11483854" cy="5506409"/>
            <a:chOff x="0" y="0"/>
            <a:chExt cx="3024554" cy="14502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024554" cy="1450248"/>
            </a:xfrm>
            <a:custGeom>
              <a:avLst/>
              <a:gdLst/>
              <a:ahLst/>
              <a:cxnLst/>
              <a:rect l="l" t="t" r="r" b="b"/>
              <a:pathLst>
                <a:path w="3024554" h="1450248">
                  <a:moveTo>
                    <a:pt x="0" y="0"/>
                  </a:moveTo>
                  <a:lnTo>
                    <a:pt x="3024554" y="0"/>
                  </a:lnTo>
                  <a:lnTo>
                    <a:pt x="3024554" y="1450248"/>
                  </a:lnTo>
                  <a:lnTo>
                    <a:pt x="0" y="1450248"/>
                  </a:lnTo>
                  <a:close/>
                </a:path>
              </a:pathLst>
            </a:custGeom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024554" cy="1488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410209" lvl="1" indent="-205105" algn="ctr">
                <a:lnSpc>
                  <a:spcPts val="2659"/>
                </a:lnSpc>
                <a:buFont typeface="Arial"/>
                <a:buChar char="•"/>
              </a:pPr>
              <a:r>
                <a:rPr lang="en-US" sz="1899" b="1">
                  <a:solidFill>
                    <a:srgbClr val="000000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Escenario:</a:t>
              </a:r>
              <a:r>
                <a:rPr lang="en-US" sz="18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 Un usuario accede a un recurso (como una orden de compra) que no le pertenece.</a:t>
              </a:r>
            </a:p>
            <a:p>
              <a:pPr algn="ctr">
                <a:lnSpc>
                  <a:spcPts val="2659"/>
                </a:lnSpc>
              </a:pPr>
              <a:endParaRPr lang="en-US" sz="18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endParaRPr>
            </a:p>
            <a:p>
              <a:pPr marL="410209" lvl="1" indent="-205105" algn="ctr">
                <a:lnSpc>
                  <a:spcPts val="2659"/>
                </a:lnSpc>
                <a:buFont typeface="Arial"/>
                <a:buChar char="•"/>
              </a:pPr>
              <a:r>
                <a:rPr lang="en-US" sz="1899" b="1">
                  <a:solidFill>
                    <a:srgbClr val="000000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Diagnóstico:</a:t>
              </a:r>
              <a:r>
                <a:rPr lang="en-US" sz="18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 Fallo de autorización por confiar ciegamente en el ID enviado por el cliente.</a:t>
              </a:r>
            </a:p>
            <a:p>
              <a:pPr marL="410209" lvl="1" indent="-205105" algn="ctr">
                <a:lnSpc>
                  <a:spcPts val="2659"/>
                </a:lnSpc>
                <a:buFont typeface="Arial"/>
                <a:buChar char="•"/>
              </a:pPr>
              <a:endParaRPr lang="en-US" sz="18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endParaRPr>
            </a:p>
            <a:p>
              <a:pPr marL="410209" lvl="1" indent="-205105" algn="ctr">
                <a:lnSpc>
                  <a:spcPts val="2659"/>
                </a:lnSpc>
                <a:buFont typeface="Arial"/>
                <a:buChar char="•"/>
              </a:pPr>
              <a:r>
                <a:rPr lang="en-US" sz="1899" b="1">
                  <a:solidFill>
                    <a:srgbClr val="000000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La Solución en Java:</a:t>
              </a:r>
            </a:p>
            <a:p>
              <a:pPr marL="820419" lvl="2" indent="-273473" algn="ctr">
                <a:lnSpc>
                  <a:spcPts val="2659"/>
                </a:lnSpc>
                <a:buFont typeface="Arial"/>
                <a:buChar char="⚬"/>
              </a:pPr>
              <a:r>
                <a:rPr lang="en-US" sz="18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Implementar control de acceso basado en roles (RBAC).</a:t>
              </a:r>
            </a:p>
            <a:p>
              <a:pPr marL="820419" lvl="2" indent="-273473" algn="ctr">
                <a:lnSpc>
                  <a:spcPts val="2659"/>
                </a:lnSpc>
                <a:buFont typeface="Arial"/>
                <a:buChar char="⚬"/>
              </a:pPr>
              <a:r>
                <a:rPr lang="en-US" sz="18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Validar siempre que el recurso pertenece al usuario autenticado en el backend.</a:t>
              </a:r>
            </a:p>
            <a:p>
              <a:pPr algn="ctr">
                <a:lnSpc>
                  <a:spcPts val="2659"/>
                </a:lnSpc>
              </a:pPr>
              <a:endParaRPr lang="en-US" sz="18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7416" y="4815923"/>
            <a:ext cx="3930920" cy="2558035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87187" y="7732195"/>
            <a:ext cx="16707988" cy="3352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 CASO PRÁCTICO Y SOLUCIÓN DEVELOPER</a:t>
            </a:r>
          </a:p>
          <a:p>
            <a:pPr algn="ctr">
              <a:lnSpc>
                <a:spcPts val="8959"/>
              </a:lnSpc>
            </a:pPr>
            <a:endParaRPr lang="en-US" sz="6399">
              <a:solidFill>
                <a:srgbClr val="FFFFFF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</p:spTree>
  </p:cSld>
  <p:clrMapOvr>
    <a:masterClrMapping/>
  </p:clrMapOvr>
  <p:transition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737373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19263" y="2932871"/>
            <a:ext cx="16440037" cy="7114358"/>
            <a:chOff x="0" y="0"/>
            <a:chExt cx="4329886" cy="18737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29886" cy="1873740"/>
            </a:xfrm>
            <a:custGeom>
              <a:avLst/>
              <a:gdLst/>
              <a:ahLst/>
              <a:cxnLst/>
              <a:rect l="l" t="t" r="r" b="b"/>
              <a:pathLst>
                <a:path w="4329886" h="1873740">
                  <a:moveTo>
                    <a:pt x="0" y="0"/>
                  </a:moveTo>
                  <a:lnTo>
                    <a:pt x="4329886" y="0"/>
                  </a:lnTo>
                  <a:lnTo>
                    <a:pt x="4329886" y="1873740"/>
                  </a:lnTo>
                  <a:lnTo>
                    <a:pt x="0" y="18737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329886" cy="19118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887420" y="4230987"/>
            <a:ext cx="3911719" cy="4284562"/>
            <a:chOff x="0" y="0"/>
            <a:chExt cx="5215626" cy="5712749"/>
          </a:xfrm>
        </p:grpSpPr>
        <p:sp>
          <p:nvSpPr>
            <p:cNvPr id="6" name="Freeform 6"/>
            <p:cNvSpPr/>
            <p:nvPr/>
          </p:nvSpPr>
          <p:spPr>
            <a:xfrm>
              <a:off x="0" y="3669203"/>
              <a:ext cx="3175000" cy="2043545"/>
            </a:xfrm>
            <a:custGeom>
              <a:avLst/>
              <a:gdLst/>
              <a:ahLst/>
              <a:cxnLst/>
              <a:rect l="l" t="t" r="r" b="b"/>
              <a:pathLst>
                <a:path w="3175000" h="2043545">
                  <a:moveTo>
                    <a:pt x="0" y="0"/>
                  </a:moveTo>
                  <a:lnTo>
                    <a:pt x="3175000" y="0"/>
                  </a:lnTo>
                  <a:lnTo>
                    <a:pt x="3175000" y="2043546"/>
                  </a:lnTo>
                  <a:lnTo>
                    <a:pt x="0" y="20435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2004829" y="0"/>
              <a:ext cx="3210797" cy="4097305"/>
            </a:xfrm>
            <a:custGeom>
              <a:avLst/>
              <a:gdLst/>
              <a:ahLst/>
              <a:cxnLst/>
              <a:rect l="l" t="t" r="r" b="b"/>
              <a:pathLst>
                <a:path w="3210797" h="4097305">
                  <a:moveTo>
                    <a:pt x="0" y="0"/>
                  </a:moveTo>
                  <a:lnTo>
                    <a:pt x="3210797" y="0"/>
                  </a:lnTo>
                  <a:lnTo>
                    <a:pt x="3210797" y="4097305"/>
                  </a:lnTo>
                  <a:lnTo>
                    <a:pt x="0" y="40973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8" name="Freeform 8"/>
            <p:cNvSpPr/>
            <p:nvPr/>
          </p:nvSpPr>
          <p:spPr>
            <a:xfrm rot="1829188">
              <a:off x="1806902" y="3623332"/>
              <a:ext cx="1024316" cy="664874"/>
            </a:xfrm>
            <a:custGeom>
              <a:avLst/>
              <a:gdLst/>
              <a:ahLst/>
              <a:cxnLst/>
              <a:rect l="l" t="t" r="r" b="b"/>
              <a:pathLst>
                <a:path w="1024316" h="664874">
                  <a:moveTo>
                    <a:pt x="0" y="0"/>
                  </a:moveTo>
                  <a:lnTo>
                    <a:pt x="1024316" y="0"/>
                  </a:lnTo>
                  <a:lnTo>
                    <a:pt x="1024316" y="664874"/>
                  </a:lnTo>
                  <a:lnTo>
                    <a:pt x="0" y="664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862015" y="904875"/>
            <a:ext cx="14842226" cy="2573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13"/>
              </a:lnSpc>
            </a:pPr>
            <a:r>
              <a:rPr lang="en-US" sz="6295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BONUS</a:t>
            </a:r>
          </a:p>
          <a:p>
            <a:pPr algn="r">
              <a:lnSpc>
                <a:spcPts val="12032"/>
              </a:lnSpc>
            </a:pPr>
            <a:endParaRPr lang="en-US" sz="6295">
              <a:solidFill>
                <a:srgbClr val="FFFFFF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62015" y="3258302"/>
            <a:ext cx="11871531" cy="8583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7424" lvl="1" indent="-313712" algn="l">
              <a:lnSpc>
                <a:spcPts val="4359"/>
              </a:lnSpc>
              <a:buFont typeface="Arial"/>
              <a:buChar char="•"/>
            </a:pPr>
            <a:r>
              <a:rPr lang="en-US" sz="2906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¿Qué es JWT (JSON Web Token)?: Es un token de autenticación que viaja firmado digitalmente para asegurar que no ha sido alterado. Permite que el servidor valide al usuario sin consultar la base de datos en cada petición.</a:t>
            </a:r>
          </a:p>
          <a:p>
            <a:pPr algn="l">
              <a:lnSpc>
                <a:spcPts val="4359"/>
              </a:lnSpc>
            </a:pPr>
            <a:endParaRPr lang="en-US" sz="2906">
              <a:solidFill>
                <a:srgbClr val="000000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627424" lvl="1" indent="-313712" algn="l">
              <a:lnSpc>
                <a:spcPts val="4359"/>
              </a:lnSpc>
              <a:buFont typeface="Arial"/>
              <a:buChar char="•"/>
            </a:pPr>
            <a:r>
              <a:rPr lang="en-US" sz="2906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Autenticación con Tokens: El servidor genera un token firmado que el cliente guarda (localStorage o cookies). Es el modelo estándar para APIs REST y microservicios.</a:t>
            </a:r>
          </a:p>
          <a:p>
            <a:pPr algn="l">
              <a:lnSpc>
                <a:spcPts val="4359"/>
              </a:lnSpc>
            </a:pPr>
            <a:endParaRPr lang="en-US" sz="2906">
              <a:solidFill>
                <a:srgbClr val="000000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627424" lvl="1" indent="-313712" algn="l">
              <a:lnSpc>
                <a:spcPts val="4359"/>
              </a:lnSpc>
              <a:buFont typeface="Arial"/>
              <a:buChar char="•"/>
            </a:pPr>
            <a:r>
              <a:rPr lang="en-US" sz="2906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Rate Limiting: Técnica que limita la cantidad de peticiones por usuario o IP para prevenir ataques de fuerza bruta y saturación del servidor (DDoS)</a:t>
            </a:r>
          </a:p>
          <a:p>
            <a:pPr algn="l">
              <a:lnSpc>
                <a:spcPts val="5259"/>
              </a:lnSpc>
            </a:pPr>
            <a:endParaRPr lang="en-US" sz="2906">
              <a:solidFill>
                <a:srgbClr val="000000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algn="l">
              <a:lnSpc>
                <a:spcPts val="5259"/>
              </a:lnSpc>
            </a:pPr>
            <a:endParaRPr lang="en-US" sz="2906">
              <a:solidFill>
                <a:srgbClr val="000000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algn="l">
              <a:lnSpc>
                <a:spcPts val="5259"/>
              </a:lnSpc>
            </a:pPr>
            <a:endParaRPr lang="en-US" sz="2906">
              <a:solidFill>
                <a:srgbClr val="00000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  <p:transition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737373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3982" y="2143942"/>
            <a:ext cx="16440037" cy="7114358"/>
            <a:chOff x="0" y="0"/>
            <a:chExt cx="4329886" cy="18737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29886" cy="1873740"/>
            </a:xfrm>
            <a:custGeom>
              <a:avLst/>
              <a:gdLst/>
              <a:ahLst/>
              <a:cxnLst/>
              <a:rect l="l" t="t" r="r" b="b"/>
              <a:pathLst>
                <a:path w="4329886" h="1873740">
                  <a:moveTo>
                    <a:pt x="0" y="0"/>
                  </a:moveTo>
                  <a:lnTo>
                    <a:pt x="4329886" y="0"/>
                  </a:lnTo>
                  <a:lnTo>
                    <a:pt x="4329886" y="1873740"/>
                  </a:lnTo>
                  <a:lnTo>
                    <a:pt x="0" y="18737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329886" cy="19118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5400000">
            <a:off x="2274007" y="3847016"/>
            <a:ext cx="892597" cy="89259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4C527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165100"/>
              <a:ext cx="7112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5400000">
            <a:off x="6490197" y="4103873"/>
            <a:ext cx="892597" cy="89259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4C5270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165100"/>
              <a:ext cx="7112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5400000">
            <a:off x="10827713" y="4103873"/>
            <a:ext cx="892597" cy="89259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4C527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165100"/>
              <a:ext cx="7112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 rot="5400000">
            <a:off x="14777574" y="4147053"/>
            <a:ext cx="892597" cy="892597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4C527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165100"/>
              <a:ext cx="7112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17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269" y="5884126"/>
            <a:ext cx="3076072" cy="3176040"/>
          </a:xfrm>
          <a:prstGeom prst="rect">
            <a:avLst/>
          </a:prstGeom>
        </p:spPr>
      </p:pic>
      <p:sp>
        <p:nvSpPr>
          <p:cNvPr id="18" name="Freeform 18"/>
          <p:cNvSpPr/>
          <p:nvPr/>
        </p:nvSpPr>
        <p:spPr>
          <a:xfrm>
            <a:off x="9775179" y="6459636"/>
            <a:ext cx="3055846" cy="2479004"/>
          </a:xfrm>
          <a:custGeom>
            <a:avLst/>
            <a:gdLst/>
            <a:ahLst/>
            <a:cxnLst/>
            <a:rect l="l" t="t" r="r" b="b"/>
            <a:pathLst>
              <a:path w="3055846" h="2479004">
                <a:moveTo>
                  <a:pt x="0" y="0"/>
                </a:moveTo>
                <a:lnTo>
                  <a:pt x="3055846" y="0"/>
                </a:lnTo>
                <a:lnTo>
                  <a:pt x="3055846" y="2479004"/>
                </a:lnTo>
                <a:lnTo>
                  <a:pt x="0" y="24790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842" r="-10842"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3535661" y="6891746"/>
            <a:ext cx="3029452" cy="1313793"/>
          </a:xfrm>
          <a:custGeom>
            <a:avLst/>
            <a:gdLst/>
            <a:ahLst/>
            <a:cxnLst/>
            <a:rect l="l" t="t" r="r" b="b"/>
            <a:pathLst>
              <a:path w="3029452" h="1313793">
                <a:moveTo>
                  <a:pt x="0" y="0"/>
                </a:moveTo>
                <a:lnTo>
                  <a:pt x="3029452" y="0"/>
                </a:lnTo>
                <a:lnTo>
                  <a:pt x="3029452" y="1313793"/>
                </a:lnTo>
                <a:lnTo>
                  <a:pt x="0" y="13137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5217273" y="6869364"/>
            <a:ext cx="2789886" cy="1659549"/>
          </a:xfrm>
          <a:custGeom>
            <a:avLst/>
            <a:gdLst/>
            <a:ahLst/>
            <a:cxnLst/>
            <a:rect l="l" t="t" r="r" b="b"/>
            <a:pathLst>
              <a:path w="2789886" h="1659549">
                <a:moveTo>
                  <a:pt x="0" y="0"/>
                </a:moveTo>
                <a:lnTo>
                  <a:pt x="2789887" y="0"/>
                </a:lnTo>
                <a:lnTo>
                  <a:pt x="2789887" y="1659549"/>
                </a:lnTo>
                <a:lnTo>
                  <a:pt x="0" y="16595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6490197" y="6524214"/>
            <a:ext cx="2580346" cy="2628131"/>
          </a:xfrm>
          <a:custGeom>
            <a:avLst/>
            <a:gdLst/>
            <a:ahLst/>
            <a:cxnLst/>
            <a:rect l="l" t="t" r="r" b="b"/>
            <a:pathLst>
              <a:path w="2580346" h="2628131">
                <a:moveTo>
                  <a:pt x="0" y="0"/>
                </a:moveTo>
                <a:lnTo>
                  <a:pt x="2580346" y="0"/>
                </a:lnTo>
                <a:lnTo>
                  <a:pt x="2580346" y="2628130"/>
                </a:lnTo>
                <a:lnTo>
                  <a:pt x="0" y="26281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722887" y="448134"/>
            <a:ext cx="14842226" cy="1467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32"/>
              </a:lnSpc>
            </a:pPr>
            <a:r>
              <a:rPr lang="en-US" sz="8594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ANALOGÍA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18791" y="2818833"/>
            <a:ext cx="2803029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Llave maestra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532665" y="2775653"/>
            <a:ext cx="3055846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Carnet y llaves de paso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999356" y="2775653"/>
            <a:ext cx="2549310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 ventana mal cerrada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882633" y="2818833"/>
            <a:ext cx="2682480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El Robo en Progreso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408572" y="5077551"/>
            <a:ext cx="3055846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Permissions</a:t>
            </a:r>
          </a:p>
          <a:p>
            <a:pPr marL="0" lvl="0" indent="0" algn="ctr">
              <a:lnSpc>
                <a:spcPts val="4759"/>
              </a:lnSpc>
              <a:spcBef>
                <a:spcPct val="0"/>
              </a:spcBef>
            </a:pPr>
            <a:endParaRPr lang="en-US" sz="339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9746088" y="5076825"/>
            <a:ext cx="3055846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Vulnerabilidad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695950" y="5120731"/>
            <a:ext cx="3055846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Intrusión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92382" y="5120731"/>
            <a:ext cx="3055846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Password </a:t>
            </a:r>
          </a:p>
        </p:txBody>
      </p:sp>
    </p:spTree>
  </p:cSld>
  <p:clrMapOvr>
    <a:masterClrMapping/>
  </p:clrMapOvr>
  <p:transition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488</Words>
  <Application>Microsoft Office PowerPoint</Application>
  <PresentationFormat>Personalizado</PresentationFormat>
  <Paragraphs>54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5" baseType="lpstr">
      <vt:lpstr>Quicksand</vt:lpstr>
      <vt:lpstr>Calibri</vt:lpstr>
      <vt:lpstr>Arial</vt:lpstr>
      <vt:lpstr>Fredoka</vt:lpstr>
      <vt:lpstr>Open Sans</vt:lpstr>
      <vt:lpstr>Quicksand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Copia de Copia de Black Modern Gradient Programmer Presentation</dc:title>
  <dc:creator>Valentina Paz</dc:creator>
  <cp:lastModifiedBy>Valentina Paz</cp:lastModifiedBy>
  <cp:revision>2</cp:revision>
  <dcterms:created xsi:type="dcterms:W3CDTF">2006-08-16T00:00:00Z</dcterms:created>
  <dcterms:modified xsi:type="dcterms:W3CDTF">2026-03-26T16:56:41Z</dcterms:modified>
  <dc:identifier>DAHFELMx_NU</dc:identifier>
</cp:coreProperties>
</file>